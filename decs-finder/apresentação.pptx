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7" r:id="rId9"/>
    <p:sldId id="265" r:id="rId10"/>
    <p:sldId id="266" r:id="rId11"/>
    <p:sldId id="269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3FED5-3322-447E-9EFD-85CBE51E18CD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641F0-D34F-4143-B889-38955A9541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641F0-D34F-4143-B889-38955A95416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33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E9BA8-E88A-04D9-B964-10C7DA8B6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5A938-C9A1-F9D1-2F6A-40E393FC6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8C0FED-996C-486C-00C4-EABCCD6A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876181-9A9F-504F-2E05-626FCB53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4B8E29-CD32-EBFF-26C9-E001CCA6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57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76B80-7A34-BBBC-96E8-EF14EE6B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4C7934-A3D1-71A1-0814-F6F563276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49F8F6-F81D-9AD7-20F0-A2387FC7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5B205D-C2E5-DCA3-A0BF-5DE6B81C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420274-E825-6D23-3EC1-2AEE0A54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9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7A686-D447-7B3E-05A1-BEA5D831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2B9DB-DE5A-F9DD-5C5E-FD59D67B2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3B4F3-D75E-918C-DF0A-A178D9E4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7D754-507F-B868-6CC6-5A1A31FF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5F21F6-C3C9-24B8-66EC-60F5A773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76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DC3EB-935A-C7CD-6788-DE58F684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73BA86-927A-F6FF-4CED-58A8C5B92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3AE4C1-AF22-AB16-58AF-2280B559C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18E695-2082-836C-01CD-E1FFBA05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7F5EDE-ABAE-6189-A2D3-4E9EC42D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E89169-2D71-E429-BA59-33208F28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08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0ED98-DC7C-655D-102D-F8026988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C2AA33-1B01-F764-B2EB-8EEA42153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9B9DC-E88C-7D7C-F0C3-1A4EEDAA6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5E410E-4604-920C-C1C7-19B7190A6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2293D4-720A-E6C4-8FC4-4E52469C6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35EB04-D47A-E5F1-ABB2-421525F5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1E0BC2-60BD-C1F2-CFD2-0ABA3322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61BA13-41C0-C8A2-8D19-1C3F2530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63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00744-20BF-92C8-E279-24CF762B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88748A-AB7D-442F-B624-621DDA27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A1585CF-9605-5BC5-DDCD-0110FFC0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29D0D5-7AF6-19CA-47ED-F9C75DE7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82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2FFF74A-99CE-CFCC-08C4-3B8EFDDF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138DAD-AF4D-A222-5F9E-E91CC5B3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83E1D3-C3A9-96E8-DD29-CD4404D5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42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14B76-8C51-6C69-C440-10E17643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763C0D-E0E7-800F-D470-D64F5CA62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D42090-10EB-3864-8E43-01EC6A19A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36DEF7-4900-EB95-B973-AC5654D6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96364A-0471-FCE6-6276-C7AA431B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24DA57-8A2E-EF9B-21D2-D3261250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4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CD078-6506-D489-20AA-63A22654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1BC10D-702E-4B6F-602D-7FBF48729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A7023D-1307-F9A9-F06E-FB5950A92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36DAB2-8BDC-CD3B-A66A-EA61FAE8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F69D1A-68AF-2114-99DD-B030A95E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86E56E-75E9-9131-E0EC-1AEB1BE3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46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AA75D-299B-0441-5F5B-3280C05E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24DE94-9376-41BD-F366-77F883F5B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A995CA-B9E8-B17E-1EED-A35108F6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A984BC-CAA8-5A13-5AC5-4AB1FC5C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EA1479-9A8B-E6AC-D0FD-E2957C05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08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F6A285-EBD3-F736-45A3-7CBB496B0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6772F4-D93C-825F-13F5-3D40A9DC4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F15CB2-C3F8-37ED-ABA3-E6DB34F38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045DBE-856B-0F8C-0705-6EF99AFA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5C4805-F361-6947-5EAC-44826E2C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40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01AB2A-4A38-6475-3119-471A978F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142926-EB77-124F-0AB7-4C776B8F5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82EDF8-8E7C-3CF1-AD88-276C63807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F57DA-DCE1-42DA-A54C-E5DA8899AE48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2687D8-8DBA-A41C-2439-087992F0D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128BF2-AEDE-C844-3EB8-CE198A596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A2194-0C01-4A36-855C-60DA2B5390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84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svg"/><Relationship Id="rId7" Type="http://schemas.openxmlformats.org/officeDocument/2006/relationships/image" Target="../media/image78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C8F63C-1033-182E-10EF-C4E7C9232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4295745"/>
            <a:ext cx="10640754" cy="775845"/>
          </a:xfrm>
        </p:spPr>
        <p:txBody>
          <a:bodyPr anchor="b">
            <a:normAutofit/>
          </a:bodyPr>
          <a:lstStyle/>
          <a:p>
            <a:r>
              <a:rPr lang="pt-BR" sz="4000" b="1" dirty="0">
                <a:solidFill>
                  <a:schemeClr val="tx2"/>
                </a:solidFill>
              </a:rPr>
              <a:t>Logo </a:t>
            </a:r>
            <a:r>
              <a:rPr lang="pt-BR" sz="4000" b="1" dirty="0" err="1">
                <a:solidFill>
                  <a:schemeClr val="tx2"/>
                </a:solidFill>
              </a:rPr>
              <a:t>DeCS</a:t>
            </a:r>
            <a:r>
              <a:rPr lang="pt-BR" sz="4000" b="1" dirty="0">
                <a:solidFill>
                  <a:schemeClr val="tx2"/>
                </a:solidFill>
              </a:rPr>
              <a:t> </a:t>
            </a:r>
            <a:r>
              <a:rPr lang="pt-BR" sz="4000" b="1" dirty="0" err="1">
                <a:solidFill>
                  <a:schemeClr val="tx2"/>
                </a:solidFill>
              </a:rPr>
              <a:t>Finder</a:t>
            </a:r>
            <a:endParaRPr lang="pt-BR" sz="4000" b="1" dirty="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D415A-BD36-39F1-F83C-E8CBD4A79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5067504"/>
            <a:ext cx="9163757" cy="450447"/>
          </a:xfrm>
        </p:spPr>
        <p:txBody>
          <a:bodyPr anchor="ctr">
            <a:normAutofit/>
          </a:bodyPr>
          <a:lstStyle/>
          <a:p>
            <a:r>
              <a:rPr lang="pt-BR" sz="2000">
                <a:solidFill>
                  <a:schemeClr val="tx2"/>
                </a:solidFill>
              </a:rPr>
              <a:t>decsfinder.bvsalud.org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Imagem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659DB59-9B94-A069-5C17-864FCB93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08" y="1853064"/>
            <a:ext cx="6233742" cy="1885707"/>
          </a:xfrm>
          <a:prstGeom prst="rect">
            <a:avLst/>
          </a:prstGeom>
        </p:spPr>
      </p:pic>
      <p:grpSp>
        <p:nvGrpSpPr>
          <p:cNvPr id="56" name="Group 47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427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60676-B7EA-9F5B-3294-6ED674A5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1C6D1FE-7A7E-E807-CFAF-2F657E745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5A70C2-7AB3-4ACE-4365-766FB823E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2498B8C-2D62-BB64-E7FC-FCB73FAE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F50E4579-27B0-56E9-C34A-D354F53B1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F5C9067-8D04-79A7-CE08-C9D91E8F9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3B110A8F-A510-838A-D290-E2C763A3B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059761F4-2A29-0124-C7EB-0B0BDA9E8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47">
            <a:extLst>
              <a:ext uri="{FF2B5EF4-FFF2-40B4-BE49-F238E27FC236}">
                <a16:creationId xmlns:a16="http://schemas.microsoft.com/office/drawing/2014/main" id="{A373354E-85B0-90CF-61B9-73F389F36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0D3F0E45-C831-5BB1-C5D0-00D6F1DA5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1CF566C-2814-9DDF-2D2C-BBA8441A0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EBE9FA-8D31-0C6A-4931-F0442F3A8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DEC9757-C164-F682-0EB5-594189581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áfico 8">
            <a:extLst>
              <a:ext uri="{FF2B5EF4-FFF2-40B4-BE49-F238E27FC236}">
                <a16:creationId xmlns:a16="http://schemas.microsoft.com/office/drawing/2014/main" id="{13C8E023-1668-B2A9-C24B-173829F0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0212" y="757311"/>
            <a:ext cx="6715125" cy="14859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C5F40FC-8BAE-C25C-8024-B1FC95BC7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0211" y="4572452"/>
            <a:ext cx="6715125" cy="1520751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EDDD254B-DFB4-5A71-DA4B-3C8AB9A815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0211" y="2664881"/>
            <a:ext cx="66198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8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8AF17-8B51-9CE1-CD58-4D579CCE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Rectangle 2090">
            <a:extLst>
              <a:ext uri="{FF2B5EF4-FFF2-40B4-BE49-F238E27FC236}">
                <a16:creationId xmlns:a16="http://schemas.microsoft.com/office/drawing/2014/main" id="{41367AE6-8F3F-4645-8BCC-0193EA487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322300-0950-0673-B66C-D510CFF6F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963776"/>
            <a:ext cx="5132153" cy="356732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logo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utiliza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vitória-régia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central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forte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relação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 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natureza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seu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padrão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crescimento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ramificações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 que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remete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diretamente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estrutura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dos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descritores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organizados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forma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hierárquica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interconectada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As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redor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foram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inspiradas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ilustrações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anatômicas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cérebro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dos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pulmões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simbolizando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conhecimento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respiração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funcionam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elementos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acabamento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reforçam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ideia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expansão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interligação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saber.</a:t>
            </a:r>
          </a:p>
        </p:txBody>
      </p:sp>
      <p:pic>
        <p:nvPicPr>
          <p:cNvPr id="2052" name="Picture 4" descr="Como funciona o cérebro humano? - Blog com Ciência">
            <a:extLst>
              <a:ext uri="{FF2B5EF4-FFF2-40B4-BE49-F238E27FC236}">
                <a16:creationId xmlns:a16="http://schemas.microsoft.com/office/drawing/2014/main" id="{22F25609-4FBF-0654-E0F0-C72B34567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2" r="21353" b="2"/>
          <a:stretch/>
        </p:blipFill>
        <p:spPr bwMode="auto">
          <a:xfrm>
            <a:off x="6099568" y="10"/>
            <a:ext cx="3248650" cy="3470138"/>
          </a:xfrm>
          <a:custGeom>
            <a:avLst/>
            <a:gdLst/>
            <a:ahLst/>
            <a:cxnLst/>
            <a:rect l="l" t="t" r="r" b="b"/>
            <a:pathLst>
              <a:path w="3248650" h="3470148">
                <a:moveTo>
                  <a:pt x="1619455" y="0"/>
                </a:moveTo>
                <a:lnTo>
                  <a:pt x="2712688" y="0"/>
                </a:lnTo>
                <a:lnTo>
                  <a:pt x="3248650" y="0"/>
                </a:lnTo>
                <a:lnTo>
                  <a:pt x="3248650" y="3470148"/>
                </a:lnTo>
                <a:lnTo>
                  <a:pt x="0" y="3470148"/>
                </a:lnTo>
                <a:lnTo>
                  <a:pt x="3126" y="3337395"/>
                </a:lnTo>
                <a:cubicBezTo>
                  <a:pt x="69921" y="1928213"/>
                  <a:pt x="634366" y="708413"/>
                  <a:pt x="1597331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istema Respiratório com Pulmões Transparentes Modelo 3D - TurboSquid  1869634">
            <a:extLst>
              <a:ext uri="{FF2B5EF4-FFF2-40B4-BE49-F238E27FC236}">
                <a16:creationId xmlns:a16="http://schemas.microsoft.com/office/drawing/2014/main" id="{6681D5A3-C817-FBF1-FEEB-74AF62CE1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0" r="27159" b="1"/>
          <a:stretch/>
        </p:blipFill>
        <p:spPr bwMode="auto">
          <a:xfrm>
            <a:off x="9406394" y="10"/>
            <a:ext cx="2785454" cy="347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itória-régia: oito curiosidades sobre a maior planta aquática do mundo">
            <a:extLst>
              <a:ext uri="{FF2B5EF4-FFF2-40B4-BE49-F238E27FC236}">
                <a16:creationId xmlns:a16="http://schemas.microsoft.com/office/drawing/2014/main" id="{95E9CA0B-73B3-0518-A585-0BA6DC662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"/>
          <a:stretch/>
        </p:blipFill>
        <p:spPr bwMode="auto">
          <a:xfrm>
            <a:off x="6095847" y="3515868"/>
            <a:ext cx="6096001" cy="3342132"/>
          </a:xfrm>
          <a:custGeom>
            <a:avLst/>
            <a:gdLst/>
            <a:ahLst/>
            <a:cxnLst/>
            <a:rect l="l" t="t" r="r" b="b"/>
            <a:pathLst>
              <a:path w="6096001" h="3342132">
                <a:moveTo>
                  <a:pt x="2492" y="0"/>
                </a:moveTo>
                <a:lnTo>
                  <a:pt x="6096001" y="0"/>
                </a:lnTo>
                <a:lnTo>
                  <a:pt x="6096001" y="3342132"/>
                </a:lnTo>
                <a:lnTo>
                  <a:pt x="6096000" y="3342132"/>
                </a:lnTo>
                <a:lnTo>
                  <a:pt x="5205951" y="3342132"/>
                </a:lnTo>
                <a:lnTo>
                  <a:pt x="4073718" y="3342132"/>
                </a:lnTo>
                <a:lnTo>
                  <a:pt x="3496422" y="3342132"/>
                </a:lnTo>
                <a:lnTo>
                  <a:pt x="3390060" y="3342132"/>
                </a:lnTo>
                <a:lnTo>
                  <a:pt x="2716256" y="3342132"/>
                </a:lnTo>
                <a:lnTo>
                  <a:pt x="2502754" y="3342132"/>
                </a:lnTo>
                <a:lnTo>
                  <a:pt x="2390998" y="3264731"/>
                </a:lnTo>
                <a:cubicBezTo>
                  <a:pt x="2217180" y="3137240"/>
                  <a:pt x="2046553" y="2999529"/>
                  <a:pt x="1874350" y="2858946"/>
                </a:cubicBezTo>
                <a:cubicBezTo>
                  <a:pt x="928725" y="2086971"/>
                  <a:pt x="0" y="1453263"/>
                  <a:pt x="0" y="10578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3" name="Freeform: Shape 2092">
            <a:extLst>
              <a:ext uri="{FF2B5EF4-FFF2-40B4-BE49-F238E27FC236}">
                <a16:creationId xmlns:a16="http://schemas.microsoft.com/office/drawing/2014/main" id="{1E2551C3-CD04-47CA-A65A-6CF0AEAA8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4752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95" name="Freeform: Shape 2094">
            <a:extLst>
              <a:ext uri="{FF2B5EF4-FFF2-40B4-BE49-F238E27FC236}">
                <a16:creationId xmlns:a16="http://schemas.microsoft.com/office/drawing/2014/main" id="{54B8B913-A9FA-43C7-8B7F-60BFC0239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287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97" name="Freeform: Shape 2096">
            <a:extLst>
              <a:ext uri="{FF2B5EF4-FFF2-40B4-BE49-F238E27FC236}">
                <a16:creationId xmlns:a16="http://schemas.microsoft.com/office/drawing/2014/main" id="{E88637F8-CBBF-4066-9237-081BEFF71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9568" y="0"/>
            <a:ext cx="1772478" cy="3470148"/>
          </a:xfrm>
          <a:custGeom>
            <a:avLst/>
            <a:gdLst>
              <a:gd name="connsiteX0" fmla="*/ 153023 w 1772478"/>
              <a:gd name="connsiteY0" fmla="*/ 0 h 3470148"/>
              <a:gd name="connsiteX1" fmla="*/ 0 w 1772478"/>
              <a:gd name="connsiteY1" fmla="*/ 0 h 3470148"/>
              <a:gd name="connsiteX2" fmla="*/ 22124 w 1772478"/>
              <a:gd name="connsiteY2" fmla="*/ 14997 h 3470148"/>
              <a:gd name="connsiteX3" fmla="*/ 1616329 w 1772478"/>
              <a:gd name="connsiteY3" fmla="*/ 3337395 h 3470148"/>
              <a:gd name="connsiteX4" fmla="*/ 1619455 w 1772478"/>
              <a:gd name="connsiteY4" fmla="*/ 3470148 h 3470148"/>
              <a:gd name="connsiteX5" fmla="*/ 1772478 w 1772478"/>
              <a:gd name="connsiteY5" fmla="*/ 3470148 h 3470148"/>
              <a:gd name="connsiteX6" fmla="*/ 1769352 w 1772478"/>
              <a:gd name="connsiteY6" fmla="*/ 3337395 h 3470148"/>
              <a:gd name="connsiteX7" fmla="*/ 175147 w 1772478"/>
              <a:gd name="connsiteY7" fmla="*/ 14997 h 347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2478" h="3470148">
                <a:moveTo>
                  <a:pt x="153023" y="0"/>
                </a:moveTo>
                <a:lnTo>
                  <a:pt x="0" y="0"/>
                </a:lnTo>
                <a:lnTo>
                  <a:pt x="22124" y="14997"/>
                </a:lnTo>
                <a:cubicBezTo>
                  <a:pt x="985089" y="708413"/>
                  <a:pt x="1549534" y="1928213"/>
                  <a:pt x="1616329" y="3337395"/>
                </a:cubicBezTo>
                <a:lnTo>
                  <a:pt x="1619455" y="3470148"/>
                </a:lnTo>
                <a:lnTo>
                  <a:pt x="1772478" y="3470148"/>
                </a:lnTo>
                <a:lnTo>
                  <a:pt x="1769352" y="3337395"/>
                </a:lnTo>
                <a:cubicBezTo>
                  <a:pt x="1702557" y="1928213"/>
                  <a:pt x="1138112" y="708413"/>
                  <a:pt x="175147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99" name="Freeform: Shape 2098">
            <a:extLst>
              <a:ext uri="{FF2B5EF4-FFF2-40B4-BE49-F238E27FC236}">
                <a16:creationId xmlns:a16="http://schemas.microsoft.com/office/drawing/2014/main" id="{AF03D13D-D0EA-4958-B7DC-6C57F960B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5847" y="3515868"/>
            <a:ext cx="2659498" cy="3342132"/>
          </a:xfrm>
          <a:custGeom>
            <a:avLst/>
            <a:gdLst>
              <a:gd name="connsiteX0" fmla="*/ 2657006 w 2659498"/>
              <a:gd name="connsiteY0" fmla="*/ 0 h 3342132"/>
              <a:gd name="connsiteX1" fmla="*/ 2500262 w 2659498"/>
              <a:gd name="connsiteY1" fmla="*/ 0 h 3342132"/>
              <a:gd name="connsiteX2" fmla="*/ 2502754 w 2659498"/>
              <a:gd name="connsiteY2" fmla="*/ 105788 h 3342132"/>
              <a:gd name="connsiteX3" fmla="*/ 628404 w 2659498"/>
              <a:gd name="connsiteY3" fmla="*/ 2858946 h 3342132"/>
              <a:gd name="connsiteX4" fmla="*/ 111756 w 2659498"/>
              <a:gd name="connsiteY4" fmla="*/ 3264731 h 3342132"/>
              <a:gd name="connsiteX5" fmla="*/ 0 w 2659498"/>
              <a:gd name="connsiteY5" fmla="*/ 3342132 h 3342132"/>
              <a:gd name="connsiteX6" fmla="*/ 156744 w 2659498"/>
              <a:gd name="connsiteY6" fmla="*/ 3342132 h 3342132"/>
              <a:gd name="connsiteX7" fmla="*/ 268500 w 2659498"/>
              <a:gd name="connsiteY7" fmla="*/ 3264731 h 3342132"/>
              <a:gd name="connsiteX8" fmla="*/ 785148 w 2659498"/>
              <a:gd name="connsiteY8" fmla="*/ 2858946 h 3342132"/>
              <a:gd name="connsiteX9" fmla="*/ 2659498 w 2659498"/>
              <a:gd name="connsiteY9" fmla="*/ 105788 h 334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59498" h="3342132">
                <a:moveTo>
                  <a:pt x="2657006" y="0"/>
                </a:moveTo>
                <a:lnTo>
                  <a:pt x="2500262" y="0"/>
                </a:lnTo>
                <a:lnTo>
                  <a:pt x="2502754" y="105788"/>
                </a:lnTo>
                <a:cubicBezTo>
                  <a:pt x="2502754" y="1453263"/>
                  <a:pt x="1574029" y="2086971"/>
                  <a:pt x="628404" y="2858946"/>
                </a:cubicBezTo>
                <a:cubicBezTo>
                  <a:pt x="456201" y="2999529"/>
                  <a:pt x="285574" y="3137240"/>
                  <a:pt x="111756" y="3264731"/>
                </a:cubicBezTo>
                <a:lnTo>
                  <a:pt x="0" y="3342132"/>
                </a:lnTo>
                <a:lnTo>
                  <a:pt x="156744" y="3342132"/>
                </a:lnTo>
                <a:lnTo>
                  <a:pt x="268500" y="3264731"/>
                </a:lnTo>
                <a:cubicBezTo>
                  <a:pt x="442318" y="3137240"/>
                  <a:pt x="612945" y="2999529"/>
                  <a:pt x="785148" y="2858946"/>
                </a:cubicBezTo>
                <a:cubicBezTo>
                  <a:pt x="1730773" y="2086971"/>
                  <a:pt x="2659498" y="1453263"/>
                  <a:pt x="2659498" y="105788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4EA9CC8-2A95-AA63-B410-2F56282A7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06889" y="326899"/>
            <a:ext cx="2280366" cy="230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32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DFAEF-0B94-B503-E2E3-6702DF64A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7EB7B0A-77F2-6960-BC77-512A5DB7D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91829E-6018-663C-2F8B-15F8D9F0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05BC60C-3844-0473-EFFC-A8B754B7F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7E8E93C2-25D1-011F-38AD-5C747DCEC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DDBAAAD-B117-FCE3-631E-AC6A3EE4B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069883F7-F42B-3D57-E691-A6A1BCF08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E8C48DFA-0E2F-C270-8AB8-8057A1150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47">
            <a:extLst>
              <a:ext uri="{FF2B5EF4-FFF2-40B4-BE49-F238E27FC236}">
                <a16:creationId xmlns:a16="http://schemas.microsoft.com/office/drawing/2014/main" id="{060E3DEC-6BAE-BB50-AD8C-334EB4FBC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548296FD-8877-E2D0-7AF7-3A8B86497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EB72B29-9806-E78F-5E8C-67CCA9991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78C5411-2522-AC1A-C06D-3C9AD24357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E011261-D30D-A9A5-109E-9C41B4EED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59E6CCEA-E1D7-B83C-DE8B-6BBD0321B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0498" y="737661"/>
            <a:ext cx="5835986" cy="154456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9301924-82C4-36C4-BC62-977231B9A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0498" y="2730443"/>
            <a:ext cx="5748228" cy="154456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BAD3C049-5C33-810E-7FCF-F5196E351D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0498" y="4595090"/>
            <a:ext cx="6081712" cy="154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8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ABB75-DAA7-2A3B-A6B0-DF415B39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076" name="Picture 4" descr="Foto de Antera Lily Sporogenous Sob O Microscópico Para A Educação Em  Laboratório e mais fotos de stock de Microscópio - iStock">
            <a:extLst>
              <a:ext uri="{FF2B5EF4-FFF2-40B4-BE49-F238E27FC236}">
                <a16:creationId xmlns:a16="http://schemas.microsoft.com/office/drawing/2014/main" id="{0739E8D3-E409-B0C0-6B14-1C9852FF9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09" r="2" b="6859"/>
          <a:stretch/>
        </p:blipFill>
        <p:spPr bwMode="auto">
          <a:xfrm>
            <a:off x="5542935" y="10"/>
            <a:ext cx="6649073" cy="3406130"/>
          </a:xfrm>
          <a:custGeom>
            <a:avLst/>
            <a:gdLst/>
            <a:ahLst/>
            <a:cxnLst/>
            <a:rect l="l" t="t" r="r" b="b"/>
            <a:pathLst>
              <a:path w="6649073" h="3387852">
                <a:moveTo>
                  <a:pt x="0" y="0"/>
                </a:moveTo>
                <a:lnTo>
                  <a:pt x="5064418" y="0"/>
                </a:lnTo>
                <a:lnTo>
                  <a:pt x="6338666" y="0"/>
                </a:lnTo>
                <a:lnTo>
                  <a:pt x="6649073" y="0"/>
                </a:lnTo>
                <a:lnTo>
                  <a:pt x="6649073" y="3387852"/>
                </a:lnTo>
                <a:lnTo>
                  <a:pt x="6338666" y="3387852"/>
                </a:lnTo>
                <a:lnTo>
                  <a:pt x="5064418" y="3387852"/>
                </a:lnTo>
                <a:lnTo>
                  <a:pt x="1617516" y="3387852"/>
                </a:lnTo>
                <a:lnTo>
                  <a:pt x="1616328" y="3337395"/>
                </a:lnTo>
                <a:cubicBezTo>
                  <a:pt x="1549534" y="1928213"/>
                  <a:pt x="985089" y="708413"/>
                  <a:pt x="22123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esquisadores conseguem as primeiras imagens com resolução atômica de  moléculas extraterrestres - Olhar Digital">
            <a:extLst>
              <a:ext uri="{FF2B5EF4-FFF2-40B4-BE49-F238E27FC236}">
                <a16:creationId xmlns:a16="http://schemas.microsoft.com/office/drawing/2014/main" id="{F6CF7620-5FAC-C926-4157-9D575CC0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3" r="-1" b="14214"/>
          <a:stretch/>
        </p:blipFill>
        <p:spPr bwMode="auto">
          <a:xfrm>
            <a:off x="4663492" y="3429000"/>
            <a:ext cx="7528500" cy="3429000"/>
          </a:xfrm>
          <a:custGeom>
            <a:avLst/>
            <a:gdLst/>
            <a:ahLst/>
            <a:cxnLst/>
            <a:rect l="l" t="t" r="r" b="b"/>
            <a:pathLst>
              <a:path w="7528500" h="3387852">
                <a:moveTo>
                  <a:pt x="2499187" y="0"/>
                </a:moveTo>
                <a:lnTo>
                  <a:pt x="6611755" y="0"/>
                </a:lnTo>
                <a:lnTo>
                  <a:pt x="7218398" y="0"/>
                </a:lnTo>
                <a:lnTo>
                  <a:pt x="7528500" y="0"/>
                </a:lnTo>
                <a:lnTo>
                  <a:pt x="7528500" y="3387852"/>
                </a:lnTo>
                <a:lnTo>
                  <a:pt x="7218398" y="3387852"/>
                </a:lnTo>
                <a:lnTo>
                  <a:pt x="6611755" y="3387852"/>
                </a:lnTo>
                <a:lnTo>
                  <a:pt x="0" y="3387852"/>
                </a:lnTo>
                <a:lnTo>
                  <a:pt x="111756" y="3310451"/>
                </a:lnTo>
                <a:cubicBezTo>
                  <a:pt x="285574" y="3182960"/>
                  <a:pt x="456201" y="3045249"/>
                  <a:pt x="628405" y="2904666"/>
                </a:cubicBezTo>
                <a:cubicBezTo>
                  <a:pt x="1574029" y="2132691"/>
                  <a:pt x="2502754" y="1498983"/>
                  <a:pt x="2502754" y="15150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7CCB11B8-8FE9-4239-8A0C-4A296B66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5" name="Freeform: Shape 308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21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087" name="Freeform: Shape 3086">
            <a:extLst>
              <a:ext uri="{FF2B5EF4-FFF2-40B4-BE49-F238E27FC236}">
                <a16:creationId xmlns:a16="http://schemas.microsoft.com/office/drawing/2014/main" id="{FA218BCC-FC3A-4169-BEA9-B82E71028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69061 w 12192001"/>
              <a:gd name="connsiteY1" fmla="*/ 0 h 6858000"/>
              <a:gd name="connsiteX2" fmla="*/ 164839 w 12192001"/>
              <a:gd name="connsiteY2" fmla="*/ 0 h 6858000"/>
              <a:gd name="connsiteX3" fmla="*/ 568151 w 12192001"/>
              <a:gd name="connsiteY3" fmla="*/ 0 h 6858000"/>
              <a:gd name="connsiteX4" fmla="*/ 2985579 w 12192001"/>
              <a:gd name="connsiteY4" fmla="*/ 0 h 6858000"/>
              <a:gd name="connsiteX5" fmla="*/ 5713293 w 12192001"/>
              <a:gd name="connsiteY5" fmla="*/ 0 h 6858000"/>
              <a:gd name="connsiteX6" fmla="*/ 5728683 w 12192001"/>
              <a:gd name="connsiteY6" fmla="*/ 10445 h 6858000"/>
              <a:gd name="connsiteX7" fmla="*/ 7302921 w 12192001"/>
              <a:gd name="connsiteY7" fmla="*/ 3057689 h 6858000"/>
              <a:gd name="connsiteX8" fmla="*/ 7319385 w 12192001"/>
              <a:gd name="connsiteY8" fmla="*/ 3406140 h 6858000"/>
              <a:gd name="connsiteX9" fmla="*/ 12192001 w 12192001"/>
              <a:gd name="connsiteY9" fmla="*/ 3406140 h 6858000"/>
              <a:gd name="connsiteX10" fmla="*/ 12192001 w 12192001"/>
              <a:gd name="connsiteY10" fmla="*/ 3451860 h 6858000"/>
              <a:gd name="connsiteX11" fmla="*/ 7321545 w 12192001"/>
              <a:gd name="connsiteY11" fmla="*/ 3451860 h 6858000"/>
              <a:gd name="connsiteX12" fmla="*/ 7329580 w 12192001"/>
              <a:gd name="connsiteY12" fmla="*/ 3621913 h 6858000"/>
              <a:gd name="connsiteX13" fmla="*/ 5455232 w 12192001"/>
              <a:gd name="connsiteY13" fmla="*/ 6378742 h 6858000"/>
              <a:gd name="connsiteX14" fmla="*/ 4938583 w 12192001"/>
              <a:gd name="connsiteY14" fmla="*/ 6785068 h 6858000"/>
              <a:gd name="connsiteX15" fmla="*/ 4833420 w 12192001"/>
              <a:gd name="connsiteY15" fmla="*/ 6858000 h 6858000"/>
              <a:gd name="connsiteX16" fmla="*/ 2985579 w 12192001"/>
              <a:gd name="connsiteY16" fmla="*/ 6858000 h 6858000"/>
              <a:gd name="connsiteX17" fmla="*/ 568151 w 12192001"/>
              <a:gd name="connsiteY17" fmla="*/ 6858000 h 6858000"/>
              <a:gd name="connsiteX18" fmla="*/ 164839 w 12192001"/>
              <a:gd name="connsiteY18" fmla="*/ 6858000 h 6858000"/>
              <a:gd name="connsiteX19" fmla="*/ 69061 w 12192001"/>
              <a:gd name="connsiteY19" fmla="*/ 6858000 h 6858000"/>
              <a:gd name="connsiteX20" fmla="*/ 0 w 12192001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69061" y="0"/>
                </a:lnTo>
                <a:lnTo>
                  <a:pt x="164839" y="0"/>
                </a:lnTo>
                <a:lnTo>
                  <a:pt x="568151" y="0"/>
                </a:lnTo>
                <a:lnTo>
                  <a:pt x="2985579" y="0"/>
                </a:lnTo>
                <a:lnTo>
                  <a:pt x="5713293" y="0"/>
                </a:lnTo>
                <a:lnTo>
                  <a:pt x="5728683" y="10445"/>
                </a:lnTo>
                <a:cubicBezTo>
                  <a:pt x="6627449" y="658496"/>
                  <a:pt x="7179061" y="1765698"/>
                  <a:pt x="7302921" y="3057689"/>
                </a:cubicBezTo>
                <a:lnTo>
                  <a:pt x="7319385" y="3406140"/>
                </a:lnTo>
                <a:lnTo>
                  <a:pt x="12192001" y="3406140"/>
                </a:lnTo>
                <a:lnTo>
                  <a:pt x="12192001" y="3451860"/>
                </a:lnTo>
                <a:lnTo>
                  <a:pt x="7321545" y="3451860"/>
                </a:lnTo>
                <a:lnTo>
                  <a:pt x="7329580" y="3621913"/>
                </a:lnTo>
                <a:cubicBezTo>
                  <a:pt x="7329580" y="4971185"/>
                  <a:pt x="6400856" y="5605738"/>
                  <a:pt x="5455232" y="6378742"/>
                </a:cubicBezTo>
                <a:cubicBezTo>
                  <a:pt x="5283029" y="6519512"/>
                  <a:pt x="5112400" y="6657407"/>
                  <a:pt x="4938583" y="6785068"/>
                </a:cubicBezTo>
                <a:lnTo>
                  <a:pt x="4833420" y="6858000"/>
                </a:lnTo>
                <a:lnTo>
                  <a:pt x="2985579" y="6858000"/>
                </a:lnTo>
                <a:lnTo>
                  <a:pt x="568151" y="6858000"/>
                </a:lnTo>
                <a:lnTo>
                  <a:pt x="164839" y="6858000"/>
                </a:lnTo>
                <a:lnTo>
                  <a:pt x="69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solidFill>
                <a:prstClr val="white"/>
              </a:solidFill>
              <a:latin typeface="Meiryo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1DCC4E-DA4F-A732-ECBD-331BE5F10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984500"/>
            <a:ext cx="5537200" cy="2882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1900" dirty="0">
                <a:solidFill>
                  <a:schemeClr val="tx1"/>
                </a:solidFill>
              </a:rPr>
              <a:t>O logo do </a:t>
            </a:r>
            <a:r>
              <a:rPr lang="pt-BR" sz="1900" dirty="0" err="1">
                <a:solidFill>
                  <a:schemeClr val="tx1"/>
                </a:solidFill>
              </a:rPr>
              <a:t>DeCS</a:t>
            </a:r>
            <a:r>
              <a:rPr lang="pt-BR" sz="1900" dirty="0">
                <a:solidFill>
                  <a:schemeClr val="tx1"/>
                </a:solidFill>
              </a:rPr>
              <a:t> foi concebido a partir da observação de estruturas ramificadas presentes na natureza e na ciência. Ele se inspira nas formas das moléculas e nas imagens que vemos ao utilizar um microscópio — com redes complexas, interconectadas e em constante expansão. Essa representação visual traduz a essência do </a:t>
            </a:r>
            <a:r>
              <a:rPr lang="pt-BR" sz="1900" dirty="0" err="1">
                <a:solidFill>
                  <a:schemeClr val="tx1"/>
                </a:solidFill>
              </a:rPr>
              <a:t>DeCS</a:t>
            </a:r>
            <a:r>
              <a:rPr lang="pt-BR" sz="1900" dirty="0">
                <a:solidFill>
                  <a:schemeClr val="tx1"/>
                </a:solidFill>
              </a:rPr>
              <a:t>, que organiza o conhecimento em descritores ramificados, permitindo uma navegação precisa e estruturada pelas diversas áreas da saúde. </a:t>
            </a:r>
            <a:endParaRPr lang="en-US" sz="1900" dirty="0">
              <a:solidFill>
                <a:schemeClr val="tx1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AB6A34B-221D-5887-8CF5-EBBD40745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2662" y="654050"/>
            <a:ext cx="12858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4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C0C0C-3D56-C592-5079-F5DA083E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8AFBF22-7A37-F272-883C-0A46177A9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F2B592-EC81-90F5-7270-2049C971B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44C1D4-05E2-7916-7478-8EAC149D4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E0984E35-D196-61AF-7DAF-4C3A17EE0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FF81984-D3E1-6E81-6847-A80072438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FB7C921B-DA4F-F3C9-B399-EC50FC4DB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44946405-E943-4A4D-9083-E724A35B8C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47">
            <a:extLst>
              <a:ext uri="{FF2B5EF4-FFF2-40B4-BE49-F238E27FC236}">
                <a16:creationId xmlns:a16="http://schemas.microsoft.com/office/drawing/2014/main" id="{DC07F065-086D-D7BB-A4F4-0BB0ECF3D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18137CFB-697C-41C1-6F77-B79F7BF32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F13C979-CA20-3E54-3A25-043CE1940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2DE6525-01B7-461C-3801-021CD3D90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8293F41-116D-1D02-FF81-69AD79CBF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6388E65-A533-708E-454C-97D5EF5B2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6567" y="749233"/>
            <a:ext cx="6619875" cy="1323975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5123BEC-141A-4CA7-CDEC-AEFDB1D0F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6567" y="4784792"/>
            <a:ext cx="6810375" cy="1323975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7E33F607-C9D7-90FB-8E54-D736CC065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2766" y="2817575"/>
            <a:ext cx="64674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1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ED37E-F369-EED9-BEE4-000D1806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098" name="Picture 2" descr="Por que as folhas das árvores mudam de cor?">
            <a:extLst>
              <a:ext uri="{FF2B5EF4-FFF2-40B4-BE49-F238E27FC236}">
                <a16:creationId xmlns:a16="http://schemas.microsoft.com/office/drawing/2014/main" id="{4F7D9B6F-19F2-F731-5C05-551FAE765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" r="2" b="11348"/>
          <a:stretch/>
        </p:blipFill>
        <p:spPr bwMode="auto">
          <a:xfrm>
            <a:off x="5542935" y="10"/>
            <a:ext cx="6649073" cy="3406130"/>
          </a:xfrm>
          <a:custGeom>
            <a:avLst/>
            <a:gdLst/>
            <a:ahLst/>
            <a:cxnLst/>
            <a:rect l="l" t="t" r="r" b="b"/>
            <a:pathLst>
              <a:path w="6649073" h="3387852">
                <a:moveTo>
                  <a:pt x="0" y="0"/>
                </a:moveTo>
                <a:lnTo>
                  <a:pt x="5064418" y="0"/>
                </a:lnTo>
                <a:lnTo>
                  <a:pt x="6338666" y="0"/>
                </a:lnTo>
                <a:lnTo>
                  <a:pt x="6649073" y="0"/>
                </a:lnTo>
                <a:lnTo>
                  <a:pt x="6649073" y="3387852"/>
                </a:lnTo>
                <a:lnTo>
                  <a:pt x="6338666" y="3387852"/>
                </a:lnTo>
                <a:lnTo>
                  <a:pt x="5064418" y="3387852"/>
                </a:lnTo>
                <a:lnTo>
                  <a:pt x="1617516" y="3387852"/>
                </a:lnTo>
                <a:lnTo>
                  <a:pt x="1616328" y="3337395"/>
                </a:lnTo>
                <a:cubicBezTo>
                  <a:pt x="1549534" y="1928213"/>
                  <a:pt x="985089" y="708413"/>
                  <a:pt x="22123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F2721CD-0BF2-7331-91F9-08C44B30A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240" r="-1" b="24868"/>
          <a:stretch/>
        </p:blipFill>
        <p:spPr>
          <a:xfrm>
            <a:off x="4663492" y="3429000"/>
            <a:ext cx="7528500" cy="3429000"/>
          </a:xfrm>
          <a:custGeom>
            <a:avLst/>
            <a:gdLst/>
            <a:ahLst/>
            <a:cxnLst/>
            <a:rect l="l" t="t" r="r" b="b"/>
            <a:pathLst>
              <a:path w="7528500" h="3387852">
                <a:moveTo>
                  <a:pt x="2499187" y="0"/>
                </a:moveTo>
                <a:lnTo>
                  <a:pt x="6611755" y="0"/>
                </a:lnTo>
                <a:lnTo>
                  <a:pt x="7218398" y="0"/>
                </a:lnTo>
                <a:lnTo>
                  <a:pt x="7528500" y="0"/>
                </a:lnTo>
                <a:lnTo>
                  <a:pt x="7528500" y="3387852"/>
                </a:lnTo>
                <a:lnTo>
                  <a:pt x="7218398" y="3387852"/>
                </a:lnTo>
                <a:lnTo>
                  <a:pt x="6611755" y="3387852"/>
                </a:lnTo>
                <a:lnTo>
                  <a:pt x="0" y="3387852"/>
                </a:lnTo>
                <a:lnTo>
                  <a:pt x="111756" y="3310451"/>
                </a:lnTo>
                <a:cubicBezTo>
                  <a:pt x="285574" y="3182960"/>
                  <a:pt x="456201" y="3045249"/>
                  <a:pt x="628405" y="2904666"/>
                </a:cubicBezTo>
                <a:cubicBezTo>
                  <a:pt x="1574029" y="2132691"/>
                  <a:pt x="2502754" y="1498983"/>
                  <a:pt x="2502754" y="151508"/>
                </a:cubicBezTo>
                <a:close/>
              </a:path>
            </a:pathLst>
          </a:custGeom>
        </p:spPr>
      </p:pic>
      <p:sp>
        <p:nvSpPr>
          <p:cNvPr id="4116" name="Freeform: Shape 4115">
            <a:extLst>
              <a:ext uri="{FF2B5EF4-FFF2-40B4-BE49-F238E27FC236}">
                <a16:creationId xmlns:a16="http://schemas.microsoft.com/office/drawing/2014/main" id="{7CCB11B8-8FE9-4239-8A0C-4A296B66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18" name="Freeform: Shape 4117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21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4120" name="Freeform: Shape 4119">
            <a:extLst>
              <a:ext uri="{FF2B5EF4-FFF2-40B4-BE49-F238E27FC236}">
                <a16:creationId xmlns:a16="http://schemas.microsoft.com/office/drawing/2014/main" id="{FA218BCC-FC3A-4169-BEA9-B82E71028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69061 w 12192001"/>
              <a:gd name="connsiteY1" fmla="*/ 0 h 6858000"/>
              <a:gd name="connsiteX2" fmla="*/ 164839 w 12192001"/>
              <a:gd name="connsiteY2" fmla="*/ 0 h 6858000"/>
              <a:gd name="connsiteX3" fmla="*/ 568151 w 12192001"/>
              <a:gd name="connsiteY3" fmla="*/ 0 h 6858000"/>
              <a:gd name="connsiteX4" fmla="*/ 2985579 w 12192001"/>
              <a:gd name="connsiteY4" fmla="*/ 0 h 6858000"/>
              <a:gd name="connsiteX5" fmla="*/ 5713293 w 12192001"/>
              <a:gd name="connsiteY5" fmla="*/ 0 h 6858000"/>
              <a:gd name="connsiteX6" fmla="*/ 5728683 w 12192001"/>
              <a:gd name="connsiteY6" fmla="*/ 10445 h 6858000"/>
              <a:gd name="connsiteX7" fmla="*/ 7302921 w 12192001"/>
              <a:gd name="connsiteY7" fmla="*/ 3057689 h 6858000"/>
              <a:gd name="connsiteX8" fmla="*/ 7319385 w 12192001"/>
              <a:gd name="connsiteY8" fmla="*/ 3406140 h 6858000"/>
              <a:gd name="connsiteX9" fmla="*/ 12192001 w 12192001"/>
              <a:gd name="connsiteY9" fmla="*/ 3406140 h 6858000"/>
              <a:gd name="connsiteX10" fmla="*/ 12192001 w 12192001"/>
              <a:gd name="connsiteY10" fmla="*/ 3451860 h 6858000"/>
              <a:gd name="connsiteX11" fmla="*/ 7321545 w 12192001"/>
              <a:gd name="connsiteY11" fmla="*/ 3451860 h 6858000"/>
              <a:gd name="connsiteX12" fmla="*/ 7329580 w 12192001"/>
              <a:gd name="connsiteY12" fmla="*/ 3621913 h 6858000"/>
              <a:gd name="connsiteX13" fmla="*/ 5455232 w 12192001"/>
              <a:gd name="connsiteY13" fmla="*/ 6378742 h 6858000"/>
              <a:gd name="connsiteX14" fmla="*/ 4938583 w 12192001"/>
              <a:gd name="connsiteY14" fmla="*/ 6785068 h 6858000"/>
              <a:gd name="connsiteX15" fmla="*/ 4833420 w 12192001"/>
              <a:gd name="connsiteY15" fmla="*/ 6858000 h 6858000"/>
              <a:gd name="connsiteX16" fmla="*/ 2985579 w 12192001"/>
              <a:gd name="connsiteY16" fmla="*/ 6858000 h 6858000"/>
              <a:gd name="connsiteX17" fmla="*/ 568151 w 12192001"/>
              <a:gd name="connsiteY17" fmla="*/ 6858000 h 6858000"/>
              <a:gd name="connsiteX18" fmla="*/ 164839 w 12192001"/>
              <a:gd name="connsiteY18" fmla="*/ 6858000 h 6858000"/>
              <a:gd name="connsiteX19" fmla="*/ 69061 w 12192001"/>
              <a:gd name="connsiteY19" fmla="*/ 6858000 h 6858000"/>
              <a:gd name="connsiteX20" fmla="*/ 0 w 12192001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69061" y="0"/>
                </a:lnTo>
                <a:lnTo>
                  <a:pt x="164839" y="0"/>
                </a:lnTo>
                <a:lnTo>
                  <a:pt x="568151" y="0"/>
                </a:lnTo>
                <a:lnTo>
                  <a:pt x="2985579" y="0"/>
                </a:lnTo>
                <a:lnTo>
                  <a:pt x="5713293" y="0"/>
                </a:lnTo>
                <a:lnTo>
                  <a:pt x="5728683" y="10445"/>
                </a:lnTo>
                <a:cubicBezTo>
                  <a:pt x="6627449" y="658496"/>
                  <a:pt x="7179061" y="1765698"/>
                  <a:pt x="7302921" y="3057689"/>
                </a:cubicBezTo>
                <a:lnTo>
                  <a:pt x="7319385" y="3406140"/>
                </a:lnTo>
                <a:lnTo>
                  <a:pt x="12192001" y="3406140"/>
                </a:lnTo>
                <a:lnTo>
                  <a:pt x="12192001" y="3451860"/>
                </a:lnTo>
                <a:lnTo>
                  <a:pt x="7321545" y="3451860"/>
                </a:lnTo>
                <a:lnTo>
                  <a:pt x="7329580" y="3621913"/>
                </a:lnTo>
                <a:cubicBezTo>
                  <a:pt x="7329580" y="4971185"/>
                  <a:pt x="6400856" y="5605738"/>
                  <a:pt x="5455232" y="6378742"/>
                </a:cubicBezTo>
                <a:cubicBezTo>
                  <a:pt x="5283029" y="6519512"/>
                  <a:pt x="5112400" y="6657407"/>
                  <a:pt x="4938583" y="6785068"/>
                </a:cubicBezTo>
                <a:lnTo>
                  <a:pt x="4833420" y="6858000"/>
                </a:lnTo>
                <a:lnTo>
                  <a:pt x="2985579" y="6858000"/>
                </a:lnTo>
                <a:lnTo>
                  <a:pt x="568151" y="6858000"/>
                </a:lnTo>
                <a:lnTo>
                  <a:pt x="164839" y="6858000"/>
                </a:lnTo>
                <a:lnTo>
                  <a:pt x="69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solidFill>
                <a:prstClr val="white"/>
              </a:solidFill>
              <a:latin typeface="Meiryo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3915EF-F64F-23E1-8927-903F30A1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296" y="2999046"/>
            <a:ext cx="5762704" cy="340613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versão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logo do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foi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desenvolvida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ideia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conexões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tecnologia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representando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forma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dados 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conceitos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saúde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interligam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redes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inteligentes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As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ramificações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remetem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estrutura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dos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descritores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organizados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forma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hierárquica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relacional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um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sistema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vivo de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informação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 paleta de cores, com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variações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tons de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é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inspirada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estações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simbolizando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transformação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diversidade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renovação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conceitos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centrais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que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evolui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continuamente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para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refletir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avanço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conhecimento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saúde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04889188-621C-ED24-511C-B02A9375E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030" y="621636"/>
            <a:ext cx="2250970" cy="214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7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22F1A2FD-9D9C-2630-CCE3-1AC5CC6048D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557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9E1EC921-2BCE-F79B-EFCE-96F9051A3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122" y="820775"/>
            <a:ext cx="4562599" cy="2016756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18AC845-4531-F4F3-E954-194811C36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6408" y="896622"/>
            <a:ext cx="4388311" cy="2016756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6FF4D90-DF06-D1E4-6308-5583B80B87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122" y="4618085"/>
            <a:ext cx="4908550" cy="1419139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0DD3F5C4-81F6-DBA5-8279-AAF6CAED83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7328" y="4618085"/>
            <a:ext cx="4908550" cy="14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29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5546-8519-0C27-1AFF-85E4418A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F74B89C6-A5D7-DDB4-C4DB-2D657E6AAEA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557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7210919-F931-C0E9-6E05-3B4D6653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122" y="819616"/>
            <a:ext cx="4501352" cy="219546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6F1552A-38C1-8B8B-2155-930DB93FC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3324" y="728263"/>
            <a:ext cx="4501352" cy="219546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CD2DB9F-2554-A664-30F4-0E5EBD6B8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7955" y="4621302"/>
            <a:ext cx="3907863" cy="150843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712B31D-39EB-77E9-C5A9-CB8B0A7DE4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3324" y="4621303"/>
            <a:ext cx="4059518" cy="156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98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FE9E0-4F8C-8527-F455-20A8D5F1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4B5D5E51-6B07-425F-0B40-B6B1EC5F2077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557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F49CCD9-DFE0-62D1-598B-14AD32A5E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373" y="771183"/>
            <a:ext cx="5288702" cy="249271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41FB08DC-5C50-59BD-44A2-FDEFA0683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425" y="771183"/>
            <a:ext cx="5288702" cy="249271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811C86C1-CEC8-4FBF-7DC8-377A9D3F7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160" y="4394336"/>
            <a:ext cx="4727127" cy="181755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88D27CB-790F-E2F4-A3BE-C38DAD1AA3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4712" y="4394336"/>
            <a:ext cx="4727127" cy="18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1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7D597-CDA8-4743-E878-901BC23D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CE2A1E0-4F43-DE19-7409-08D32CAB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452436"/>
            <a:ext cx="6362700" cy="14859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B638F8F5-4F98-38DC-263D-2A68E2536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2557462"/>
            <a:ext cx="4076700" cy="16002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6701C7D-53C6-38F1-C8B5-ACFC6C26E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300" y="4776789"/>
            <a:ext cx="4962525" cy="162877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D29CED34-F323-FCF3-3EE7-51C043D3E1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57489" y="196158"/>
            <a:ext cx="6382789" cy="646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5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áfico 12">
            <a:extLst>
              <a:ext uri="{FF2B5EF4-FFF2-40B4-BE49-F238E27FC236}">
                <a16:creationId xmlns:a16="http://schemas.microsoft.com/office/drawing/2014/main" id="{B3462CAD-77D5-7D9F-93E8-E52B6CCF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510" y="376236"/>
            <a:ext cx="5962650" cy="16764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4C57BC0D-5C0E-969D-EE5E-64A30941F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510" y="2581275"/>
            <a:ext cx="3838575" cy="169545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4CDD4AC-5BA8-D380-F9F5-1C7100C8C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510" y="4805364"/>
            <a:ext cx="4057650" cy="16764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120B460-5329-02F0-F96C-949601089E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39062" y="-691445"/>
            <a:ext cx="5595938" cy="729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6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C2A3-499C-8C9B-F612-7C88DEFF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E1BFDDCB-0119-393F-5D5C-6AA83933C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461962"/>
            <a:ext cx="8229600" cy="159067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0554699-2671-0D8A-78D7-732700655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2382439"/>
            <a:ext cx="4188921" cy="177641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9532844-5A8E-3F7E-93A2-72B9B57350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" y="4488655"/>
            <a:ext cx="4714875" cy="159067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41D61EE-88EE-C4FF-DC3C-540743FE3A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8699" y="-286383"/>
            <a:ext cx="7452821" cy="71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10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72278-D926-9CEB-0142-3BCDDF0D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E45FBED-1922-CA35-F72B-331CE7B07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C01382-922A-07B8-9D22-172E3BA30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DC24F1-F4CA-2095-9130-EDF37C294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0D8A26CF-963D-5ECA-B1CF-98B509B68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C51AD72-D642-4C75-5F8A-A39A82AE5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0DA36706-85A0-490E-3954-EAF54F2C4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051A4669-C5C1-886B-88DD-86B2AEE53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47">
            <a:extLst>
              <a:ext uri="{FF2B5EF4-FFF2-40B4-BE49-F238E27FC236}">
                <a16:creationId xmlns:a16="http://schemas.microsoft.com/office/drawing/2014/main" id="{D3E4E90D-66ED-76BB-6354-61E8CEC7C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E419C36D-F0C3-DBB6-E46D-66E983099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BD22C69-810A-9957-D2B9-D3B1382AB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A4C51AB-F11B-622F-2408-77C65E95C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FFFAA93-BAFA-C258-388B-AE5B61838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5B883E-9970-59DE-CFEF-BECF606B990B}"/>
              </a:ext>
            </a:extLst>
          </p:cNvPr>
          <p:cNvSpPr txBox="1"/>
          <p:nvPr/>
        </p:nvSpPr>
        <p:spPr>
          <a:xfrm>
            <a:off x="406921" y="938679"/>
            <a:ext cx="369524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Hit the Road" pitchFamily="2" charset="0"/>
              </a:rPr>
              <a:t>DeCS</a:t>
            </a:r>
            <a:r>
              <a:rPr lang="pt-BR" sz="5000" dirty="0">
                <a:latin typeface="Hit the Road" pitchFamily="2" charset="0"/>
              </a:rPr>
              <a:t> </a:t>
            </a:r>
            <a:r>
              <a:rPr lang="pt-BR" sz="5000" dirty="0" err="1">
                <a:latin typeface="Hit the Road" pitchFamily="2" charset="0"/>
              </a:rPr>
              <a:t>Finder</a:t>
            </a:r>
            <a:endParaRPr lang="pt-BR" sz="5000" dirty="0">
              <a:latin typeface="Hit the Road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83E7A1-358C-605E-AB72-B6AE7C830E4C}"/>
              </a:ext>
            </a:extLst>
          </p:cNvPr>
          <p:cNvSpPr txBox="1"/>
          <p:nvPr/>
        </p:nvSpPr>
        <p:spPr>
          <a:xfrm>
            <a:off x="431800" y="2851606"/>
            <a:ext cx="36454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Kelson Sans" panose="02000500000000000000" pitchFamily="50" charset="0"/>
              </a:rPr>
              <a:t>DeCS</a:t>
            </a:r>
            <a:r>
              <a:rPr lang="pt-BR" sz="5000" dirty="0">
                <a:latin typeface="Kelson Sans" panose="02000500000000000000" pitchFamily="50" charset="0"/>
              </a:rPr>
              <a:t> </a:t>
            </a:r>
            <a:r>
              <a:rPr lang="pt-BR" sz="5000" dirty="0" err="1">
                <a:latin typeface="Kelson Sans" panose="02000500000000000000" pitchFamily="50" charset="0"/>
              </a:rPr>
              <a:t>Finder</a:t>
            </a:r>
            <a:endParaRPr lang="pt-BR" sz="5000" dirty="0">
              <a:latin typeface="Kelson Sans" panose="02000500000000000000" pitchFamily="50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E95E9B-3C32-DD4B-331C-DDF50764875C}"/>
              </a:ext>
            </a:extLst>
          </p:cNvPr>
          <p:cNvSpPr txBox="1"/>
          <p:nvPr/>
        </p:nvSpPr>
        <p:spPr>
          <a:xfrm>
            <a:off x="431800" y="4953913"/>
            <a:ext cx="337143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dirty="0" err="1">
                <a:latin typeface="FS Joey" panose="02000806040000020004" pitchFamily="50" charset="0"/>
              </a:rPr>
              <a:t>DeCS</a:t>
            </a:r>
            <a:r>
              <a:rPr lang="pt-BR" sz="5000" dirty="0">
                <a:latin typeface="FS Joey" panose="02000806040000020004" pitchFamily="50" charset="0"/>
              </a:rPr>
              <a:t> </a:t>
            </a:r>
            <a:r>
              <a:rPr lang="pt-BR" sz="5000" dirty="0" err="1">
                <a:latin typeface="FS Joey" panose="02000806040000020004" pitchFamily="50" charset="0"/>
              </a:rPr>
              <a:t>Finder</a:t>
            </a:r>
            <a:endParaRPr lang="pt-BR" sz="5000" dirty="0">
              <a:latin typeface="FS Joey" panose="02000806040000020004" pitchFamily="50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A2E818C-31DE-7408-37E4-30028DE0A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439" y="812922"/>
            <a:ext cx="66548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Estética moderna: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três fontes, cada uma ao seu modo, seguem tendências de design atual — seja pela objetividade (Kelson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expressividade (Hit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Road) ou empatia visual (FS Joey).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Versatilidade de uso: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Elas podem ser combinadas estrategicamente para criar hierarquia visual: uma para títulos, outra para botões ou chamadas, e outra para o corpo de texto.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Identidade forte: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escolha dessas fontes ajuda a construir uma identidade de marca contemporânea e acessível, tornando o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Finder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mais atrativo para usuários diversos, especialmente em contextos digitais.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3E23B8-0403-AC22-8F0D-C536792E473C}"/>
              </a:ext>
            </a:extLst>
          </p:cNvPr>
          <p:cNvSpPr txBox="1"/>
          <p:nvPr/>
        </p:nvSpPr>
        <p:spPr>
          <a:xfrm>
            <a:off x="431800" y="5719266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latin typeface="FS Joey" panose="02000806040000020004" pitchFamily="50" charset="0"/>
              </a:rPr>
              <a:t>Font</a:t>
            </a:r>
            <a:r>
              <a:rPr lang="pt-BR" sz="2000" dirty="0">
                <a:latin typeface="FS Joey" panose="02000806040000020004" pitchFamily="50" charset="0"/>
              </a:rPr>
              <a:t>: FS Joey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6CAF41-7A71-A476-00A7-BDF398CBF2BD}"/>
              </a:ext>
            </a:extLst>
          </p:cNvPr>
          <p:cNvSpPr txBox="1"/>
          <p:nvPr/>
        </p:nvSpPr>
        <p:spPr>
          <a:xfrm>
            <a:off x="521221" y="3713380"/>
            <a:ext cx="2159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latin typeface="Kelson Sans" panose="02000500000000000000" pitchFamily="50" charset="0"/>
              </a:rPr>
              <a:t>Font</a:t>
            </a:r>
            <a:r>
              <a:rPr lang="pt-BR" sz="2000" dirty="0">
                <a:latin typeface="Kelson Sans" panose="02000500000000000000" pitchFamily="50" charset="0"/>
              </a:rPr>
              <a:t>: Kelson </a:t>
            </a:r>
            <a:r>
              <a:rPr lang="pt-BR" sz="2000" dirty="0" err="1">
                <a:latin typeface="Kelson Sans" panose="02000500000000000000" pitchFamily="50" charset="0"/>
              </a:rPr>
              <a:t>Sans</a:t>
            </a:r>
            <a:endParaRPr lang="pt-BR" sz="2000" dirty="0">
              <a:latin typeface="Kelson Sans" panose="02000500000000000000" pitchFamily="50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65D191-3037-4DC2-97CB-925FAA96BC59}"/>
              </a:ext>
            </a:extLst>
          </p:cNvPr>
          <p:cNvSpPr txBox="1"/>
          <p:nvPr/>
        </p:nvSpPr>
        <p:spPr>
          <a:xfrm>
            <a:off x="431800" y="1705138"/>
            <a:ext cx="28023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 err="1">
                <a:latin typeface="Hit the Road" pitchFamily="2" charset="0"/>
              </a:rPr>
              <a:t>Font</a:t>
            </a:r>
            <a:r>
              <a:rPr lang="pt-BR" sz="2500" dirty="0">
                <a:latin typeface="Hit the Road" pitchFamily="2" charset="0"/>
              </a:rPr>
              <a:t>: Hit </a:t>
            </a:r>
            <a:r>
              <a:rPr lang="pt-BR" sz="2500" dirty="0" err="1">
                <a:latin typeface="Hit the Road" pitchFamily="2" charset="0"/>
              </a:rPr>
              <a:t>the</a:t>
            </a:r>
            <a:r>
              <a:rPr lang="pt-BR" sz="2500" dirty="0">
                <a:latin typeface="Hit the Road" pitchFamily="2" charset="0"/>
              </a:rPr>
              <a:t> Road</a:t>
            </a:r>
          </a:p>
        </p:txBody>
      </p:sp>
    </p:spTree>
    <p:extLst>
      <p:ext uri="{BB962C8B-B14F-4D97-AF65-F5344CB8AC3E}">
        <p14:creationId xmlns:p14="http://schemas.microsoft.com/office/powerpoint/2010/main" val="547995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9E596-2FBD-83F7-00C7-11A95844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59F11D-4ADC-86F2-5E8C-7D9D7D16D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096227-F02A-716C-7F3E-C3D14DCE2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91A0EFE-1CB0-7561-30F8-57B20E615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341ECBF4-EC66-B6FE-1338-106D99E76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4F63FC5-2E43-92CC-9A84-C3B79FB86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44">
              <a:extLst>
                <a:ext uri="{FF2B5EF4-FFF2-40B4-BE49-F238E27FC236}">
                  <a16:creationId xmlns:a16="http://schemas.microsoft.com/office/drawing/2014/main" id="{84A07D49-66E8-6EAC-265F-EE7680F2B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45">
              <a:extLst>
                <a:ext uri="{FF2B5EF4-FFF2-40B4-BE49-F238E27FC236}">
                  <a16:creationId xmlns:a16="http://schemas.microsoft.com/office/drawing/2014/main" id="{C1121C4D-2895-AE6E-2D86-9FBB1DCF4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47">
            <a:extLst>
              <a:ext uri="{FF2B5EF4-FFF2-40B4-BE49-F238E27FC236}">
                <a16:creationId xmlns:a16="http://schemas.microsoft.com/office/drawing/2014/main" id="{B2616F5D-E814-E8E5-5458-6F996E803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7" name="Freeform: Shape 48">
              <a:extLst>
                <a:ext uri="{FF2B5EF4-FFF2-40B4-BE49-F238E27FC236}">
                  <a16:creationId xmlns:a16="http://schemas.microsoft.com/office/drawing/2014/main" id="{BF6DBE00-5B6D-B1C5-2B94-09D439F0B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4B0F677-4925-E27F-ECD9-0D0D033A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E004D5A-02E7-D11F-A243-18061AE6A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21E6445-BF9D-E87D-123A-97FD09834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Gráfico 11">
            <a:extLst>
              <a:ext uri="{FF2B5EF4-FFF2-40B4-BE49-F238E27FC236}">
                <a16:creationId xmlns:a16="http://schemas.microsoft.com/office/drawing/2014/main" id="{EAA4FFDC-6A13-13F9-FD20-6C6B970D3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9174" y="375812"/>
            <a:ext cx="8213346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13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392</Words>
  <Application>Microsoft Office PowerPoint</Application>
  <PresentationFormat>Widescreen</PresentationFormat>
  <Paragraphs>17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Meiryo</vt:lpstr>
      <vt:lpstr>Aptos</vt:lpstr>
      <vt:lpstr>Aptos Display</vt:lpstr>
      <vt:lpstr>Arial</vt:lpstr>
      <vt:lpstr>FS Joey</vt:lpstr>
      <vt:lpstr>Hit the Road</vt:lpstr>
      <vt:lpstr>Kelson Sans</vt:lpstr>
      <vt:lpstr>Tema do Office</vt:lpstr>
      <vt:lpstr>Logo DeCS Finder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Silva, Marcio (BIR)</dc:creator>
  <cp:lastModifiedBy>Da Silva, Marcio (BIR)</cp:lastModifiedBy>
  <cp:revision>5</cp:revision>
  <dcterms:created xsi:type="dcterms:W3CDTF">2025-05-05T11:45:33Z</dcterms:created>
  <dcterms:modified xsi:type="dcterms:W3CDTF">2025-05-07T19:21:34Z</dcterms:modified>
</cp:coreProperties>
</file>